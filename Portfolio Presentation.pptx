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6" r:id="rId11"/>
    <p:sldId id="264" r:id="rId12"/>
    <p:sldId id="265" r:id="rId13"/>
    <p:sldId id="267" r:id="rId14"/>
    <p:sldId id="269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0226" autoAdjust="0"/>
  </p:normalViewPr>
  <p:slideViewPr>
    <p:cSldViewPr snapToGrid="0">
      <p:cViewPr varScale="1">
        <p:scale>
          <a:sx n="76" d="100"/>
          <a:sy n="76" d="100"/>
        </p:scale>
        <p:origin x="8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1F050-5E70-4259-8764-B1B2848A5E3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B57F5F-D2B5-40C8-807A-3FA0428E8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5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All-</a:t>
            </a:r>
            <a:r>
              <a:rPr lang="en-US" dirty="0" err="1"/>
              <a:t>nba</a:t>
            </a:r>
            <a:r>
              <a:rPr lang="en-US" dirty="0"/>
              <a:t> selection chooses the top 15 players to award at the end of the regular season. The best 5 go into the first then, the next 5 into the 2</a:t>
            </a:r>
            <a:r>
              <a:rPr lang="en-US" baseline="30000" dirty="0"/>
              <a:t>nd</a:t>
            </a:r>
            <a:r>
              <a:rPr lang="en-US" dirty="0"/>
              <a:t>, and then the 3</a:t>
            </a:r>
            <a:r>
              <a:rPr lang="en-US" baseline="30000" dirty="0"/>
              <a:t>rd</a:t>
            </a:r>
            <a:r>
              <a:rPr lang="en-US" dirty="0"/>
              <a:t> team. The reason it award is important is because it impacts a player’s legacy or their reputation. </a:t>
            </a:r>
            <a:br>
              <a:rPr lang="en-US" dirty="0"/>
            </a:br>
            <a:r>
              <a:rPr lang="en-US" dirty="0"/>
              <a:t>NBA Clipart from: https://freebiesupply.com/logos/nba-logo/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57F5F-D2B5-40C8-807A-3FA0428E83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85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57F5F-D2B5-40C8-807A-3FA0428E83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19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2581-97F6-3A66-3F5D-5BF538347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E0BF6-BB57-E1EF-5E1F-141674144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CF78F-B75C-1890-A477-D7FFB878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8CBA-A7A2-4B7D-8334-3056B150A8E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E81EB-E9E0-33C1-E1AD-E05E24DF5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2B702-67B1-471E-834E-7BD4A4EB9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9B40-0676-4689-A45C-CB99C27FA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99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5863-69C6-09D0-052D-76915F4E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562DE-074B-FC8A-AF8B-F47C917F6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A4720-2106-3D51-E095-7AC20625F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8CBA-A7A2-4B7D-8334-3056B150A8E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2CCF8-9D1C-2536-0EE0-A04A3367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BEF2A-5625-6554-9440-D96108EC1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9B40-0676-4689-A45C-CB99C27FA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25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4BBF7-7747-493F-7E84-8E96ACCF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12C1A-F001-5F5C-1F78-CD67D9F34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28FC6-8EAA-CDC7-8B83-9D942B77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8CBA-A7A2-4B7D-8334-3056B150A8E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74690-4156-1C67-AD40-67D4E04AF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21073-8060-1A89-FCBF-2785D519E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9B40-0676-4689-A45C-CB99C27FA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62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9B4AF-E187-03F7-079B-C3F8B618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32A4B-B0F8-9960-22AC-C60A0BC82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1F720-C49F-6D3A-DF7E-0A263FB72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A2CFE-A659-F433-314C-ECD4D2A3F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8CBA-A7A2-4B7D-8334-3056B150A8E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CFF73-1E8A-50D9-14F7-8B4318E25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B2439-2A0B-DF1B-AC74-0481E70D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9B40-0676-4689-A45C-CB99C27FA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7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5649-0742-61DB-1A96-5C1BE6F8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B099F-82AF-5F62-9B55-21C536FA6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73847-C12A-EDB0-7816-8D40FBA60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E281CA-303B-8DFC-E9DA-07B0AA1DF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E08893-7FCF-4789-699B-632D33193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64B464-3C46-BB58-D520-B409F3E27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8CBA-A7A2-4B7D-8334-3056B150A8E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428235-DBEE-8973-2E81-494C9438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CF3BB6-434E-757A-6311-E5704AC52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9B40-0676-4689-A45C-CB99C27FA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1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7A2F7-6840-C0DB-4CA1-659FEDE37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5B8EB-B44B-0581-AE1A-AEC00EB5A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8CBA-A7A2-4B7D-8334-3056B150A8E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971A22-2EBC-A73E-8F09-1A2B36882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5EBB7-AFA5-3896-DCDA-5CD2A509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9B40-0676-4689-A45C-CB99C27FA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95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43DA86-30ED-93C7-7AEE-90BDF640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8CBA-A7A2-4B7D-8334-3056B150A8E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8A1E0-F06E-32E7-F6A0-2B7B0D59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542C-0A6C-BFBB-8C09-219A2259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9B40-0676-4689-A45C-CB99C27FA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05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06F3C-96E9-E0C4-F7D7-BCDE57FCB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4D7C5-483F-E07D-F7CA-A2BCB2B75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35760-E943-1096-FA27-180C2F593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FDB10-5800-AD36-1BA0-6E29FE50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8CBA-A7A2-4B7D-8334-3056B150A8E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27D87-5438-DBBF-6DAF-632530520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E2430-710A-DEFD-645B-38186573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9B40-0676-4689-A45C-CB99C27FA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9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816C9-185D-30CF-1848-EA1C13F25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69AC78-EED5-B166-62F3-591078D1B3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6B599-AB8D-E62F-85B9-0A262BC8B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85A2C-4E5F-AB36-4924-C40D113D2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8CBA-A7A2-4B7D-8334-3056B150A8E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1D81F-5811-4F9F-2F2C-E0876D888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1233A-3241-C6C1-2B37-91C6F50DD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9B40-0676-4689-A45C-CB99C27FA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06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57924-A9FD-F049-B381-5727B4721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00EA9-2233-D10C-2815-420437B6C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E5D7F-5AEB-4EB8-E059-12633BA58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8CBA-A7A2-4B7D-8334-3056B150A8E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AB4B2-4395-8589-5902-C44B0B19D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876D3-2976-8196-9708-9CF0FE583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9B40-0676-4689-A45C-CB99C27FA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30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F8D24F-FFE5-E721-E52C-E93DCFC679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B6137-5A91-180C-A596-37F146B00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038EE-2BC9-B185-F4C1-C71A1F614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8CBA-A7A2-4B7D-8334-3056B150A8E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C5310-853A-E882-11CD-1391C7182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35C93-863B-D9FE-6394-4DCBC471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39B40-0676-4689-A45C-CB99C27FA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22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6AC548-0E87-524A-0183-1C7A1775D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135E2-0485-B01D-B6ED-5199DD6EB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A9641-370B-DE69-7176-333267BD5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1A8CBA-A7A2-4B7D-8334-3056B150A8E9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8B580-55F4-4DB5-0AC5-8E1BFEBEB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3043E-76E2-2588-4BED-F77F8F6CF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39B40-0676-4689-A45C-CB99C27FA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69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search?q=nba+gamse&amp;sca_esv=9be909eea5a29677&amp;source=hp&amp;ei=LpC1aZuDCJWv5NoP_qPz-QE&amp;iflsig=AFdpzrgAAAAAabWePjn5ZGni9qpXfZbrC11lKjq0khQB&amp;ved=0ahUKEwib0o_66p-TAxWVF1kFHf7RPB8Q4dUDCCg&amp;uact=5&amp;oq=nba+gamse&amp;gs_lp=Egdnd3Mtd2l6IgluYmEgZ2Ftc2UyEBAAGIAEGLEDGEMYgwEYigUyEBAAGIAEGLEDGEMYgwEYigUyCxAAGIAEGLEDGIMBMgsQABiABBixAxiDATILEAAYgAQYsQMYgwEyBRAAGIAEMggQABiABBixAzIIEAAYgAQYsQMyCxAAGIAEGLEDGIMBMggQABiABBixA0jCPFAAWMA8cAF4AJABAZgBvQGgAdQGqgEDMS41uAEDyAEA-AEBmAIGoAK9BcICCxAAGIAEGJECGIoFwgIREC4YgAQYkQIY0QMYxwEYigXCAgsQLhiABBixAxiDAcICCBAuGIAEGLEDwgIFEC4YgATCAhAQLhiABBixAxhDGIMBGIoFwgIQEC4YgAQY0QMYQxjHARiKBcICChAAGIAEGEMYigWYAwCSBwMyLjSgB-wusgcDMS40uAe5BcIHBzAuMS40LjHIBxmACAA&amp;sclient=gws-wiz#sie=m;/g/11yhxm2fbv;3;/m/05jvx;dt;fp;1;;;;-1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proceedings.mlr.press/v5/carvalho09a.html.5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18E94-B0CB-CC9C-7ECF-867A9A448C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All-NBA Selection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47E71-805F-843C-AC8E-9753C3E53B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Luxman Maheswaran</a:t>
            </a:r>
          </a:p>
          <a:p>
            <a:r>
              <a:rPr lang="en-US" dirty="0"/>
              <a:t>Duke University</a:t>
            </a:r>
          </a:p>
          <a:p>
            <a:r>
              <a:rPr lang="en-US" dirty="0"/>
              <a:t>Dept. of Statistical Science</a:t>
            </a:r>
          </a:p>
        </p:txBody>
      </p:sp>
    </p:spTree>
    <p:extLst>
      <p:ext uri="{BB962C8B-B14F-4D97-AF65-F5344CB8AC3E}">
        <p14:creationId xmlns:p14="http://schemas.microsoft.com/office/powerpoint/2010/main" val="2780293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57977-C4F8-46A9-901D-F7BFA9BCD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All-NBA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256FB-1DC3-4EA1-432B-B512BBE03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All-NBA Selection</a:t>
            </a:r>
          </a:p>
          <a:p>
            <a:pPr lvl="1"/>
            <a:r>
              <a:rPr lang="en-US" dirty="0"/>
              <a:t>15 Players</a:t>
            </a:r>
          </a:p>
          <a:p>
            <a:pPr lvl="1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, 2</a:t>
            </a:r>
            <a:r>
              <a:rPr lang="en-US" baseline="30000" dirty="0"/>
              <a:t>nd</a:t>
            </a:r>
            <a:r>
              <a:rPr lang="en-US" dirty="0"/>
              <a:t> , 3</a:t>
            </a:r>
            <a:r>
              <a:rPr lang="en-US" baseline="30000" dirty="0"/>
              <a:t>rd</a:t>
            </a:r>
            <a:r>
              <a:rPr lang="en-US" dirty="0"/>
              <a:t> Team </a:t>
            </a:r>
          </a:p>
          <a:p>
            <a:r>
              <a:rPr lang="en-US" dirty="0"/>
              <a:t>Importance</a:t>
            </a:r>
          </a:p>
          <a:p>
            <a:pPr lvl="1"/>
            <a:r>
              <a:rPr lang="en-US" dirty="0"/>
              <a:t>Legacy</a:t>
            </a:r>
          </a:p>
          <a:p>
            <a:pPr lvl="1"/>
            <a:r>
              <a:rPr lang="en-US" dirty="0"/>
              <a:t>Money</a:t>
            </a:r>
          </a:p>
          <a:p>
            <a:r>
              <a:rPr lang="en-US" dirty="0"/>
              <a:t>Decided by 100 experts</a:t>
            </a:r>
          </a:p>
          <a:p>
            <a:r>
              <a:rPr lang="en-US" dirty="0"/>
              <a:t>Recent Rule Changes</a:t>
            </a:r>
          </a:p>
          <a:p>
            <a:pPr lvl="1"/>
            <a:r>
              <a:rPr lang="en-US" dirty="0"/>
              <a:t>2023-2024 Onwards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028" name="Picture 4" descr="NBA Logo PNG Transparent &amp; SVG Vector - Freebie Supply">
            <a:extLst>
              <a:ext uri="{FF2B5EF4-FFF2-40B4-BE49-F238E27FC236}">
                <a16:creationId xmlns:a16="http://schemas.microsoft.com/office/drawing/2014/main" id="{7B8F0E65-9B27-4CD5-488E-9570B7F2B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760" y="1499870"/>
            <a:ext cx="5144347" cy="3858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54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42B45-A0F4-3FB0-37C7-FA748D747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3E68A-121E-A594-BEC6-324E2A9F0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7251"/>
          </a:xfrm>
        </p:spPr>
        <p:txBody>
          <a:bodyPr>
            <a:normAutofit/>
          </a:bodyPr>
          <a:lstStyle/>
          <a:p>
            <a:r>
              <a:rPr lang="en-US" dirty="0"/>
              <a:t>Basketball Reference</a:t>
            </a:r>
          </a:p>
          <a:p>
            <a:r>
              <a:rPr lang="en-US" dirty="0"/>
              <a:t>2 Complete Seasons</a:t>
            </a:r>
          </a:p>
          <a:p>
            <a:r>
              <a:rPr lang="en-US" dirty="0"/>
              <a:t>Goal</a:t>
            </a:r>
          </a:p>
          <a:p>
            <a:pPr lvl="1"/>
            <a:r>
              <a:rPr lang="en-US" dirty="0"/>
              <a:t>Predicting All-NBA Selections w/ Advanced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1898B-94BF-DD54-6D87-474A9333C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614" y="3839647"/>
            <a:ext cx="6044771" cy="23964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CBFD37-6C96-FD24-A5AF-AC78C9038756}"/>
              </a:ext>
            </a:extLst>
          </p:cNvPr>
          <p:cNvSpPr txBox="1"/>
          <p:nvPr/>
        </p:nvSpPr>
        <p:spPr>
          <a:xfrm>
            <a:off x="3659274" y="6264996"/>
            <a:ext cx="487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4"/>
              </a:rPr>
              <a:t>Google UI Box Scores</a:t>
            </a:r>
            <a:r>
              <a:rPr lang="en-US" sz="1400" dirty="0"/>
              <a:t>: Timberwolves vs. Clippers 3/11/2026</a:t>
            </a:r>
          </a:p>
        </p:txBody>
      </p:sp>
    </p:spTree>
    <p:extLst>
      <p:ext uri="{BB962C8B-B14F-4D97-AF65-F5344CB8AC3E}">
        <p14:creationId xmlns:p14="http://schemas.microsoft.com/office/powerpoint/2010/main" val="62616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9957F-6346-72E2-4756-7C15E1744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15C0C-EFF0-F66F-3029-534619834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 Share</a:t>
            </a:r>
          </a:p>
          <a:p>
            <a:pPr lvl="1"/>
            <a:r>
              <a:rPr lang="en-US" dirty="0"/>
              <a:t>Individual Player’s Contribution</a:t>
            </a:r>
          </a:p>
          <a:p>
            <a:r>
              <a:rPr lang="en-US" dirty="0"/>
              <a:t>Box-plus-minus (BPM)</a:t>
            </a:r>
          </a:p>
          <a:p>
            <a:pPr lvl="1"/>
            <a:r>
              <a:rPr lang="en-US" dirty="0"/>
              <a:t>Point difference on/off court</a:t>
            </a:r>
          </a:p>
          <a:p>
            <a:r>
              <a:rPr lang="en-US" dirty="0"/>
              <a:t>Value-over-replacement-player (VORP)</a:t>
            </a:r>
          </a:p>
          <a:p>
            <a:pPr lvl="1"/>
            <a:r>
              <a:rPr lang="en-US" dirty="0"/>
              <a:t>Difference from theoretical replacement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112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2EB3DD-F179-0335-84AD-6BE44DE3C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38" y="681037"/>
            <a:ext cx="10079795" cy="604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7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2C061-16D9-84C7-FBC1-FACFA8EC6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07B0F-33D7-5430-AEEC-4D0B3501F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42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Binary Outcome</a:t>
            </a:r>
          </a:p>
          <a:p>
            <a:r>
              <a:rPr lang="en-US" dirty="0"/>
              <a:t>Bayesian Logistic Regression</a:t>
            </a:r>
          </a:p>
          <a:p>
            <a:pPr lvl="1"/>
            <a:r>
              <a:rPr lang="en-US" dirty="0"/>
              <a:t>Small sample size</a:t>
            </a:r>
          </a:p>
          <a:p>
            <a:pPr lvl="1"/>
            <a:r>
              <a:rPr lang="en-US" dirty="0"/>
              <a:t>Sparse signal</a:t>
            </a:r>
          </a:p>
          <a:p>
            <a:r>
              <a:rPr lang="en-US" dirty="0"/>
              <a:t>14 Predictors</a:t>
            </a:r>
          </a:p>
          <a:p>
            <a:pPr lvl="1"/>
            <a:r>
              <a:rPr lang="en-US" dirty="0"/>
              <a:t>Avoid Complete Identification</a:t>
            </a:r>
          </a:p>
          <a:p>
            <a:pPr lvl="1"/>
            <a:r>
              <a:rPr lang="en-US" dirty="0"/>
              <a:t>Win Share</a:t>
            </a:r>
          </a:p>
          <a:p>
            <a:pPr lvl="1"/>
            <a:r>
              <a:rPr lang="en-US" dirty="0"/>
              <a:t>G, MP</a:t>
            </a:r>
          </a:p>
          <a:p>
            <a:pPr lvl="1"/>
            <a:r>
              <a:rPr lang="en-US" dirty="0"/>
              <a:t>FG, FGA, FT, FTA, PTS</a:t>
            </a:r>
          </a:p>
          <a:p>
            <a:pPr lvl="1"/>
            <a:r>
              <a:rPr lang="en-US" dirty="0"/>
              <a:t>TRB, AST, STL</a:t>
            </a:r>
          </a:p>
          <a:p>
            <a:pPr lvl="1"/>
            <a:r>
              <a:rPr lang="en-US" dirty="0"/>
              <a:t>TO, PF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B3F0585-5114-5789-191C-25C3C09AA30D}"/>
                  </a:ext>
                </a:extLst>
              </p:cNvPr>
              <p:cNvSpPr txBox="1"/>
              <p:nvPr/>
            </p:nvSpPr>
            <p:spPr>
              <a:xfrm>
                <a:off x="7233920" y="2690336"/>
                <a:ext cx="435864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i="1" dirty="0" err="1"/>
                  <a:t>i</a:t>
                </a:r>
                <a:r>
                  <a:rPr lang="en-US" i="1" dirty="0"/>
                  <a:t> </a:t>
                </a:r>
                <a:r>
                  <a:rPr lang="en-US" dirty="0"/>
                  <a:t>is a player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probability of All-NBA selection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vector of </a:t>
                </a:r>
                <a:r>
                  <a:rPr lang="en-US" i="1" dirty="0"/>
                  <a:t>j</a:t>
                </a:r>
                <a:r>
                  <a:rPr lang="en-US" dirty="0"/>
                  <a:t> coefficients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the design matrix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B3F0585-5114-5789-191C-25C3C09AA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920" y="2690336"/>
                <a:ext cx="4358640" cy="1754326"/>
              </a:xfrm>
              <a:prstGeom prst="rect">
                <a:avLst/>
              </a:prstGeom>
              <a:blipFill>
                <a:blip r:embed="rId2"/>
                <a:stretch>
                  <a:fillRect l="-1259" b="-4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481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B28A7-9D22-E318-32CD-B9D540BEE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963210-B5D5-EEE3-8044-286C2C5E9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918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Horseshoe Prior</a:t>
                </a:r>
              </a:p>
              <a:p>
                <a:pPr lvl="1"/>
                <a:r>
                  <a:rPr lang="en-US" dirty="0"/>
                  <a:t>Carvalho (2009)</a:t>
                </a:r>
              </a:p>
              <a:p>
                <a:pPr lvl="1"/>
                <a:r>
                  <a:rPr lang="en-US" dirty="0"/>
                  <a:t>Shrinkage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Hyperprior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Piironen (2017)</a:t>
                </a:r>
              </a:p>
              <a:p>
                <a:pPr lvl="1"/>
                <a:r>
                  <a:rPr lang="en-US" dirty="0"/>
                  <a:t>Expected number of non-zero predictors </a:t>
                </a:r>
              </a:p>
              <a:p>
                <a:pPr lvl="1"/>
                <a:r>
                  <a:rPr lang="en-US" dirty="0"/>
                  <a:t>5/14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~ 1/2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963210-B5D5-EEE3-8044-286C2C5E9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918200" cy="4351338"/>
              </a:xfrm>
              <a:blipFill>
                <a:blip r:embed="rId2"/>
                <a:stretch>
                  <a:fillRect l="-1856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962136-9014-17F1-C132-FF84EF85589C}"/>
                  </a:ext>
                </a:extLst>
              </p:cNvPr>
              <p:cNvSpPr txBox="1"/>
              <p:nvPr/>
            </p:nvSpPr>
            <p:spPr>
              <a:xfrm>
                <a:off x="6939280" y="1825625"/>
                <a:ext cx="2473498" cy="9932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|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962136-9014-17F1-C132-FF84EF855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280" y="1825625"/>
                <a:ext cx="2473498" cy="993285"/>
              </a:xfrm>
              <a:prstGeom prst="rect">
                <a:avLst/>
              </a:prstGeom>
              <a:blipFill>
                <a:blip r:embed="rId3"/>
                <a:stretch>
                  <a:fillRect b="-2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A360F1-8CB4-E180-18DB-5AF0A4C7C950}"/>
                  </a:ext>
                </a:extLst>
              </p:cNvPr>
              <p:cNvSpPr txBox="1"/>
              <p:nvPr/>
            </p:nvSpPr>
            <p:spPr>
              <a:xfrm>
                <a:off x="6939279" y="3509104"/>
                <a:ext cx="24734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A360F1-8CB4-E180-18DB-5AF0A4C7C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279" y="3509104"/>
                <a:ext cx="2473499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2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55E12B0-8DB8-F697-7940-A54D576CC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13" y="526403"/>
            <a:ext cx="9761606" cy="6015074"/>
          </a:xfrm>
          <a:prstGeom prst="rect">
            <a:avLst/>
          </a:prstGeom>
        </p:spPr>
      </p:pic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2AEDDDB9-0BED-82B2-7A3D-E6576C35FD50}"/>
              </a:ext>
            </a:extLst>
          </p:cNvPr>
          <p:cNvSpPr/>
          <p:nvPr/>
        </p:nvSpPr>
        <p:spPr>
          <a:xfrm>
            <a:off x="2321169" y="1190491"/>
            <a:ext cx="7666890" cy="388667"/>
          </a:xfrm>
          <a:prstGeom prst="flowChartProcess">
            <a:avLst/>
          </a:prstGeom>
          <a:solidFill>
            <a:srgbClr val="EEEA3E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E02B2EB8-D641-6E84-4A35-A8BF0DF8D5DC}"/>
              </a:ext>
            </a:extLst>
          </p:cNvPr>
          <p:cNvSpPr/>
          <p:nvPr/>
        </p:nvSpPr>
        <p:spPr>
          <a:xfrm>
            <a:off x="2321169" y="2094743"/>
            <a:ext cx="7666890" cy="388667"/>
          </a:xfrm>
          <a:prstGeom prst="flowChartProcess">
            <a:avLst/>
          </a:prstGeom>
          <a:solidFill>
            <a:srgbClr val="EEEA3E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87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CF1CF-BCC7-81B6-E849-B36EBC1F7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C5D04-7133-C78E-48F1-ED1649FAA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Diagnostics</a:t>
            </a:r>
          </a:p>
          <a:p>
            <a:endParaRPr lang="en-US" dirty="0"/>
          </a:p>
          <a:p>
            <a:r>
              <a:rPr lang="en-US" dirty="0"/>
              <a:t>Similar Coef. For BPM, VORP</a:t>
            </a:r>
          </a:p>
          <a:p>
            <a:endParaRPr lang="en-US" dirty="0"/>
          </a:p>
          <a:p>
            <a:r>
              <a:rPr lang="en-US" dirty="0"/>
              <a:t>Validation on 2024-2025 Season</a:t>
            </a:r>
          </a:p>
          <a:p>
            <a:pPr lvl="1"/>
            <a:r>
              <a:rPr lang="en-US" dirty="0"/>
              <a:t>80% (12/15) correct</a:t>
            </a:r>
          </a:p>
          <a:p>
            <a:pPr lvl="1"/>
            <a:r>
              <a:rPr lang="en-US" dirty="0"/>
              <a:t>Good Order of All-NBA Teams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73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361709-9A6D-57EF-8744-1ABA4612D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104" y="452087"/>
            <a:ext cx="8543792" cy="5953826"/>
          </a:xfrm>
          <a:prstGeom prst="rect">
            <a:avLst/>
          </a:prstGeom>
        </p:spPr>
      </p:pic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E4B41648-39AD-C4E6-A1C5-FF2750B50A81}"/>
              </a:ext>
            </a:extLst>
          </p:cNvPr>
          <p:cNvSpPr/>
          <p:nvPr/>
        </p:nvSpPr>
        <p:spPr>
          <a:xfrm>
            <a:off x="1910080" y="5338128"/>
            <a:ext cx="8209280" cy="839152"/>
          </a:xfrm>
          <a:prstGeom prst="flowChartProcess">
            <a:avLst/>
          </a:prstGeom>
          <a:solidFill>
            <a:srgbClr val="EEEA3E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C920EB3B-B7F0-1FFE-6075-E6BFA6BA1C30}"/>
              </a:ext>
            </a:extLst>
          </p:cNvPr>
          <p:cNvSpPr/>
          <p:nvPr/>
        </p:nvSpPr>
        <p:spPr>
          <a:xfrm>
            <a:off x="1910080" y="3429000"/>
            <a:ext cx="8209280" cy="279400"/>
          </a:xfrm>
          <a:prstGeom prst="flowChartProcess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4DD3876C-3C5B-100E-5660-2945DE578660}"/>
              </a:ext>
            </a:extLst>
          </p:cNvPr>
          <p:cNvSpPr/>
          <p:nvPr/>
        </p:nvSpPr>
        <p:spPr>
          <a:xfrm>
            <a:off x="1910080" y="4243864"/>
            <a:ext cx="8209280" cy="279400"/>
          </a:xfrm>
          <a:prstGeom prst="flowChartProcess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CE8FFAAA-8A9D-573D-4C8C-1970B7F7C4FC}"/>
              </a:ext>
            </a:extLst>
          </p:cNvPr>
          <p:cNvSpPr/>
          <p:nvPr/>
        </p:nvSpPr>
        <p:spPr>
          <a:xfrm>
            <a:off x="1910080" y="5058728"/>
            <a:ext cx="8209280" cy="279400"/>
          </a:xfrm>
          <a:prstGeom prst="flowChartProcess">
            <a:avLst/>
          </a:prstGeom>
          <a:solidFill>
            <a:srgbClr val="FF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3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A6A4-AF23-F975-8FEE-8F2422863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C3C6-72E3-AB62-00CD-E2EEB72BE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Small Dataset</a:t>
            </a:r>
          </a:p>
          <a:p>
            <a:pPr lvl="1"/>
            <a:r>
              <a:rPr lang="en-US" dirty="0"/>
              <a:t>Scraping Limits</a:t>
            </a:r>
          </a:p>
          <a:p>
            <a:pPr lvl="1"/>
            <a:r>
              <a:rPr lang="en-US" dirty="0"/>
              <a:t>Position Constraints</a:t>
            </a:r>
          </a:p>
          <a:p>
            <a:pPr lvl="1"/>
            <a:endParaRPr lang="en-US" dirty="0"/>
          </a:p>
          <a:p>
            <a:r>
              <a:rPr lang="en-US" dirty="0"/>
              <a:t>Ignores Time Series Correlation</a:t>
            </a:r>
          </a:p>
          <a:p>
            <a:pPr lvl="1"/>
            <a:r>
              <a:rPr lang="en-US" dirty="0"/>
              <a:t>Past season performance</a:t>
            </a:r>
          </a:p>
          <a:p>
            <a:pPr lvl="1"/>
            <a:endParaRPr lang="en-US" dirty="0"/>
          </a:p>
          <a:p>
            <a:r>
              <a:rPr lang="en-US" dirty="0"/>
              <a:t>Limited scope of box score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393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74700-7DFD-ECB7-67AC-984F20EA3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36978-E810-5D24-7F53-A3C97BB7B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Historical All-NBA Prediction</a:t>
            </a:r>
          </a:p>
          <a:p>
            <a:endParaRPr lang="en-US" dirty="0"/>
          </a:p>
          <a:p>
            <a:r>
              <a:rPr lang="en-US" dirty="0"/>
              <a:t>Player Rankings</a:t>
            </a:r>
          </a:p>
          <a:p>
            <a:endParaRPr lang="en-US" dirty="0"/>
          </a:p>
          <a:p>
            <a:r>
              <a:rPr lang="en-US" dirty="0"/>
              <a:t>Choice of Predictors/Model Design</a:t>
            </a:r>
          </a:p>
          <a:p>
            <a:endParaRPr lang="en-US" dirty="0"/>
          </a:p>
          <a:p>
            <a:r>
              <a:rPr lang="en-US" dirty="0"/>
              <a:t>Betting Odds</a:t>
            </a:r>
          </a:p>
          <a:p>
            <a:pPr lvl="1"/>
            <a:r>
              <a:rPr lang="en-US" dirty="0"/>
              <a:t>Evolving probabilities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32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A325-0D51-1693-49A5-2B81AC2D2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212BD-13B0-66D5-38AB-50716277E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Sports Reference LLC "2024-25 NBA Player Stats: Totals" Basketball-Reference.com - Basketball Statistics and History. https://www.basketball-reference.com/. Data pulled on: Feb. 03, 2026.2. </a:t>
            </a:r>
          </a:p>
          <a:p>
            <a:r>
              <a:rPr lang="en-US" dirty="0"/>
              <a:t>Bresler A (2026). </a:t>
            </a:r>
            <a:r>
              <a:rPr lang="en-US" dirty="0" err="1"/>
              <a:t>nbastatR</a:t>
            </a:r>
            <a:r>
              <a:rPr lang="en-US" dirty="0"/>
              <a:t>: R's interface to NBA data. R package version 0.1.153, commit f1e25e746f8a9dffdd7cc4eb3666efb37fc6a8b9, https://github.com/abresler/nbastatR.</a:t>
            </a:r>
          </a:p>
          <a:p>
            <a:r>
              <a:rPr lang="en-US" dirty="0"/>
              <a:t>Carvalho, C.M., Polson, N.G. &amp; Scott, J.G.. (2009). Handling Sparsity via the Horseshoe. Proceedings of the Twelfth International Conference on Artificial Intelligence and Statistics, in </a:t>
            </a:r>
            <a:r>
              <a:rPr lang="en-US" i="1" dirty="0"/>
              <a:t>Proceedings of Machine Learning Research </a:t>
            </a:r>
            <a:r>
              <a:rPr lang="en-US" dirty="0"/>
              <a:t>5:73-80 Available from </a:t>
            </a:r>
            <a:r>
              <a:rPr lang="en-US" dirty="0">
                <a:hlinkClick r:id="rId2"/>
              </a:rPr>
              <a:t>https://proceedings.mlr.press/v5/carvalho09a.html.5</a:t>
            </a:r>
            <a:r>
              <a:rPr lang="en-US" dirty="0"/>
              <a:t>.</a:t>
            </a:r>
          </a:p>
          <a:p>
            <a:r>
              <a:rPr lang="en-US" dirty="0"/>
              <a:t>Piironen, J., &amp; </a:t>
            </a:r>
            <a:r>
              <a:rPr lang="en-US" dirty="0" err="1"/>
              <a:t>Vehtari</a:t>
            </a:r>
            <a:r>
              <a:rPr lang="en-US" dirty="0"/>
              <a:t>, A. (2017, April). On the hyperprior choice for the global shrinkage parameter in the horseshoe prior. In Artificial intelligence and statistics (pp. 905-913). PMLR.6. </a:t>
            </a:r>
          </a:p>
          <a:p>
            <a:r>
              <a:rPr lang="en-US" dirty="0"/>
              <a:t>Google. (2026). Gemini (3 Thinking/Flash version) [Large language model]. https://gemini.google.com/7. </a:t>
            </a:r>
          </a:p>
          <a:p>
            <a:r>
              <a:rPr lang="en-US" dirty="0"/>
              <a:t>OpenAI. (2026). ChatGPT (5.4 Thinking version) [Large language model]. https://chat.openai.com/chat</a:t>
            </a:r>
          </a:p>
        </p:txBody>
      </p:sp>
    </p:spTree>
    <p:extLst>
      <p:ext uri="{BB962C8B-B14F-4D97-AF65-F5344CB8AC3E}">
        <p14:creationId xmlns:p14="http://schemas.microsoft.com/office/powerpoint/2010/main" val="3815650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FD49-C2E6-D09F-9C12-2BDAD520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Disclosure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0F8D2-D1CE-2E22-AE0A-B91CEF80A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was used to create/edit/debug code, generate modelling ideas, and compare/contrast different ideas.</a:t>
            </a:r>
          </a:p>
        </p:txBody>
      </p:sp>
    </p:spTree>
    <p:extLst>
      <p:ext uri="{BB962C8B-B14F-4D97-AF65-F5344CB8AC3E}">
        <p14:creationId xmlns:p14="http://schemas.microsoft.com/office/powerpoint/2010/main" val="3511970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89EAE-7A12-B976-D6AF-FBBC08FE1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 Listening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45A64-A39A-A6BC-6F58-137C5D5C8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966639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5090</TotalTime>
  <Words>596</Words>
  <Application>Microsoft Office PowerPoint</Application>
  <PresentationFormat>Widescreen</PresentationFormat>
  <Paragraphs>99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Office Theme</vt:lpstr>
      <vt:lpstr>Predicting All-NBA Selection</vt:lpstr>
      <vt:lpstr>All-NBA Introduction</vt:lpstr>
      <vt:lpstr>Data</vt:lpstr>
      <vt:lpstr>Advanced Metrics</vt:lpstr>
      <vt:lpstr>PowerPoint Presentation</vt:lpstr>
      <vt:lpstr>Modelling</vt:lpstr>
      <vt:lpstr>Prior Selection</vt:lpstr>
      <vt:lpstr>PowerPoint Presentation</vt:lpstr>
      <vt:lpstr>Discussion</vt:lpstr>
      <vt:lpstr>PowerPoint Presentation</vt:lpstr>
      <vt:lpstr>Limitations</vt:lpstr>
      <vt:lpstr>Future Directions</vt:lpstr>
      <vt:lpstr>References</vt:lpstr>
      <vt:lpstr>AI Disclosure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Luxman Maheswaran</dc:creator>
  <cp:lastModifiedBy>Luxman Maheswaran</cp:lastModifiedBy>
  <cp:revision>8</cp:revision>
  <dcterms:created xsi:type="dcterms:W3CDTF">2026-03-12T15:30:08Z</dcterms:created>
  <dcterms:modified xsi:type="dcterms:W3CDTF">2026-03-25T02:10:52Z</dcterms:modified>
</cp:coreProperties>
</file>